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3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097280"/>
            <a:ext cx="5303520" cy="5303520"/>
          </a:xfrm>
          <a:prstGeom prst="ellipse">
            <a:avLst/>
          </a:prstGeom>
          <a:solidFill>
            <a:srgbClr val="15803D">
              <a:alpha val="38000"/>
            </a:srgbClr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1828800"/>
            <a:ext cx="2926080" cy="2926080"/>
          </a:xfrm>
          <a:prstGeom prst="ellipse">
            <a:avLst/>
          </a:prstGeom>
          <a:solidFill>
            <a:srgbClr val="22C55E">
              <a:alpha val="22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💰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7315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spc="6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ECONOMIZEI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DCF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Blueprint Empresarial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2743200"/>
            <a:ext cx="4572000" cy="0"/>
          </a:xfrm>
          <a:prstGeom prst="line">
            <a:avLst/>
          </a:prstGeom>
          <a:noFill/>
          <a:ln w="25400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88036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Estrutura, Processos e Memória Organizacional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57200" y="3429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ideia ao produto estruturado — com 1 pessoa e mentalidade de empresa.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949440" y="466344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 2026  ·  v1.0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7498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🛍️  Economizei — Contexto do Produto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40690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0515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363931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de WhatsApp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que analisa cupons fiscais via foto usando o </a:t>
            </a:r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O usuário manda a foto, o bot classifica os gastos automaticamente.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02920" y="24231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quem?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2761488"/>
            <a:ext cx="3639312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Brasileiros Classe B/C</a:t>
            </a:r>
            <a:endParaRPr lang="en-US" sz="115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Compras recorrentes em supermercados</a:t>
            </a:r>
            <a:endParaRPr lang="en-US" sz="115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WhatsApp como principal app do dia</a:t>
            </a:r>
            <a:endParaRPr lang="en-US" sz="115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Sensíveis ao custo e ao desperdício</a:t>
            </a:r>
            <a:endParaRPr lang="en-US" sz="115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Zero tolerância a atrito digital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663440" y="93268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Negócio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663440" y="1280160"/>
            <a:ext cx="4206240" cy="868680"/>
          </a:xfrm>
          <a:prstGeom prst="rect">
            <a:avLst/>
          </a:prstGeom>
          <a:solidFill>
            <a:srgbClr val="DCFCE7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33502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🆓  FREEMIUM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00600" y="161848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Cupons limitados/mês  ·  Resumo básico  ·  Sem custo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63440" y="2267712"/>
            <a:ext cx="4206240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00600" y="232257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PREMIUM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00600" y="260604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Cupons ilimitados  ·  Alertas inteligentes de gasto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Relatórios mensais  ·  Metas de economia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63440" y="3401568"/>
            <a:ext cx="4206240" cy="117043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34747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Princípio Central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00600" y="3767328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"Zero atrito é o produto." Cada etapa que o usuário precise aprender é uma etapa a eliminar.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7498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 As 7 Áreas da Empresa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274320" y="859536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operação enxuta começa com clareza — saber quais chapéus existem, mesmo que você use todos ao mesmo tempo.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74320" y="1280160"/>
            <a:ext cx="2029968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280160"/>
            <a:ext cx="2029968" cy="1828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463040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1947672"/>
            <a:ext cx="1883664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 &amp; Tech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47472" y="2249424"/>
            <a:ext cx="1883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Roadmap, dev,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 e métricas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478024" y="1280160"/>
            <a:ext cx="2029968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78024" y="1280160"/>
            <a:ext cx="2029968" cy="1828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78024" y="1463040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📣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551176" y="1947672"/>
            <a:ext cx="1883664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551176" y="2249424"/>
            <a:ext cx="1883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Aquisição, conteúdo,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e dados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81728" y="1280160"/>
            <a:ext cx="2029968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81728" y="1280160"/>
            <a:ext cx="2029968" cy="1828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81728" y="1463040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🚀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754880" y="1947672"/>
            <a:ext cx="1883664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Vendas &amp; Growth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0" y="2249424"/>
            <a:ext cx="1883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Funil, conversão,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CAC, LTV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885432" y="1280160"/>
            <a:ext cx="2029968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885432" y="1280160"/>
            <a:ext cx="2029968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85432" y="1463040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❤️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958584" y="1947672"/>
            <a:ext cx="1883664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Success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958584" y="2249424"/>
            <a:ext cx="1883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Suporte, onboarding,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retenção, NPS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376172" y="2907792"/>
            <a:ext cx="2029968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376172" y="2907792"/>
            <a:ext cx="2029968" cy="1828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376172" y="3090672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💰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1449324" y="3575304"/>
            <a:ext cx="1883664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Financeiro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449324" y="3877056"/>
            <a:ext cx="1883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MRR, tributos,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de caixa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579876" y="2907792"/>
            <a:ext cx="2029968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579876" y="2907792"/>
            <a:ext cx="2029968" cy="1828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79876" y="3090672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⚖️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3653028" y="3575304"/>
            <a:ext cx="1883664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Jurídico &amp; LGPD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653028" y="3877056"/>
            <a:ext cx="1883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Privacidade, termos,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783580" y="2907792"/>
            <a:ext cx="2029968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783580" y="2907792"/>
            <a:ext cx="2029968" cy="18288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783580" y="3090672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🔧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5856732" y="3575304"/>
            <a:ext cx="1883664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Operações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856732" y="3877056"/>
            <a:ext cx="1883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Infra, APIs,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processos e SOPs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274320" y="4645152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 próximos slides: pilares e rotinas de cada área.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7498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Produto &amp; Tecnologia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274320" y="85039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PILARES DA ÁREA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206240" y="85039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ROTINAS &amp; FLUXO DE TRABALHO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069080" y="822960"/>
            <a:ext cx="0" cy="4187952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316736"/>
            <a:ext cx="329184" cy="3291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3167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76656" y="1115568"/>
            <a:ext cx="336499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Discovery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Entrevistas, análise de feedbacks e testes de hipótese antes de construir qualquer feature.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2249424"/>
            <a:ext cx="329184" cy="3291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2494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76656" y="2048256"/>
            <a:ext cx="336499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&amp; Priorização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ICE (Impacto × Confiança ÷ Esforço) para decidir o que construir primeiro.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3182112"/>
            <a:ext cx="329184" cy="3291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31821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76656" y="2980944"/>
            <a:ext cx="336499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 &amp; Confiabilidade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Monitoramento 24/7, alertas de erro (Sentry), uptime do bot e cobertura de testes.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4114800"/>
            <a:ext cx="329184" cy="3291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4114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76656" y="3913632"/>
            <a:ext cx="336499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de Produto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DAU, MAU, retenção D1/D7/D30, taxa de análise por usuário ativo, tempo de resposta.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206240" y="1115568"/>
            <a:ext cx="960120" cy="7498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06240" y="1115568"/>
            <a:ext cx="960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DIÁRIO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212080" y="1115568"/>
            <a:ext cx="3749040" cy="7498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0" y="1170432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Monitorar logs e uptime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erros no bot, taxa de falha na leitura de cupons e tempo de resposta do Gemini.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86300" y="1865376"/>
            <a:ext cx="0" cy="13716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206240" y="2002536"/>
            <a:ext cx="960120" cy="7498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06240" y="2002536"/>
            <a:ext cx="960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SEMANAL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212080" y="2002536"/>
            <a:ext cx="3749040" cy="7498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03520" y="205740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feedbacks e backlog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Priorizar bugs e features com base em tickets de CS, NPS e comportamento observado.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86300" y="2752344"/>
            <a:ext cx="0" cy="13716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206240" y="2889504"/>
            <a:ext cx="960120" cy="7498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06240" y="2889504"/>
            <a:ext cx="960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QUINZENAL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212080" y="2889504"/>
            <a:ext cx="3749040" cy="7498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03520" y="2944368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e validação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Lançar ou iterar feature, notificar usuários de novidades via mensagem no WhatsApp.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686300" y="3639312"/>
            <a:ext cx="0" cy="13716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206240" y="3776472"/>
            <a:ext cx="960120" cy="7498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206240" y="3776472"/>
            <a:ext cx="960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MENSAL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212080" y="3776472"/>
            <a:ext cx="3749040" cy="7498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03520" y="3831336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 de métricas de produto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Analisar retenção, DAU/MAU, cupons processados e comparar com metas definidas.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7498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📣  Marketing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274320" y="85039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PILARES DA ÁREA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206240" y="85039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ROTINAS &amp; FLUXO DE TRABALHO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069080" y="822960"/>
            <a:ext cx="0" cy="4187952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316736"/>
            <a:ext cx="329184" cy="32918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3167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76656" y="1115568"/>
            <a:ext cx="336499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Identidade &amp; Posicionamento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 app que te ajuda a gastar menos no mercado" — simples, em linguagem de WhatsApp, para classe B/C.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2249424"/>
            <a:ext cx="329184" cy="32918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2494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76656" y="2048256"/>
            <a:ext cx="336499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Aquisição Orgânica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 e Instagram Reels com dicas de economia. Grupos de WhatsApp e Facebook de finanças pessoais.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3182112"/>
            <a:ext cx="329184" cy="32918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31821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76656" y="2980944"/>
            <a:ext cx="336499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Conteúdo &amp; Educação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 de comparativo de preço, alertas de inflação, dicas de mercado — conteúdo que o usuário compartilha.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4114800"/>
            <a:ext cx="329184" cy="32918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4114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76656" y="3913632"/>
            <a:ext cx="336499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&amp; Otimização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 por canal, taxa de conversão freemium → premium, custo por instalação, taxa de reativação.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206240" y="1115568"/>
            <a:ext cx="960120" cy="7498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06240" y="1115568"/>
            <a:ext cx="960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DIÁRIO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212080" y="1115568"/>
            <a:ext cx="3749040" cy="7498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0" y="1170432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Monitorar métricas de aquisição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Instalações, conversões, menções nas redes, custo por lead por canal.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86300" y="1865376"/>
            <a:ext cx="0" cy="13716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206240" y="2002536"/>
            <a:ext cx="960120" cy="7498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06240" y="2002536"/>
            <a:ext cx="960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SEMANAL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212080" y="2002536"/>
            <a:ext cx="3749040" cy="7498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03520" y="205740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Publicar 3 a 5 conteúdos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Reels, stories e posts de economia. Participação em grupos de WhatsApp e Facebook.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86300" y="2752344"/>
            <a:ext cx="0" cy="13716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206240" y="2889504"/>
            <a:ext cx="960120" cy="7498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06240" y="2889504"/>
            <a:ext cx="960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MENSAL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212080" y="2889504"/>
            <a:ext cx="3749040" cy="7498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03520" y="2944368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CAC e ajuste de canais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CAC por canal, desativar o que não converte e dobrar no que funciona.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686300" y="3639312"/>
            <a:ext cx="0" cy="13716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206240" y="3776472"/>
            <a:ext cx="960120" cy="7498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206240" y="3776472"/>
            <a:ext cx="960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TRIMESTRAL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212080" y="3776472"/>
            <a:ext cx="3749040" cy="7498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03520" y="3831336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 de marca e posicionamento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com concorrentes, teste de novos formatos, revisão de tom de voz.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7498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Vendas &amp; Growth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274320" y="85039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PILARES DA ÁREA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206240" y="85039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ROTINAS &amp; FLUXO DE TRABALHO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069080" y="822960"/>
            <a:ext cx="0" cy="4187952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316736"/>
            <a:ext cx="329184" cy="32918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3167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76656" y="1115568"/>
            <a:ext cx="336499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Funil Freemium → Premium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o "momento mágico" (1º cupom analisado = wow) e transformá-lo em gatilho de upgrade.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2249424"/>
            <a:ext cx="329184" cy="32918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2494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76656" y="2048256"/>
            <a:ext cx="336499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Canais de Aquisição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Crescimento orgânico via conteúdo, indicação entre usuários (referral) e parcerias locais.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3182112"/>
            <a:ext cx="329184" cy="32918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31821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76656" y="2980944"/>
            <a:ext cx="336499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de Growth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MRR, Churn Rate, LTV/CAC Ratio, Net Revenue Retention (NRR), Taxa de Ativação.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4114800"/>
            <a:ext cx="329184" cy="32918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4114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76656" y="3913632"/>
            <a:ext cx="336499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Parcerias Estratégicas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Supermercados regionais, apps de cashback, influencers de economia doméstica e finanças.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206240" y="1115568"/>
            <a:ext cx="960120" cy="7498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06240" y="1115568"/>
            <a:ext cx="960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DIÁRIO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212080" y="1115568"/>
            <a:ext cx="3749040" cy="7498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0" y="1170432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Acompanhar conversões e churn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Quantos free → premium hoje? Alguém cancelou? Revisar logs de saída e motivos.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86300" y="1865376"/>
            <a:ext cx="0" cy="137160"/>
          </a:xfrm>
          <a:prstGeom prst="line">
            <a:avLst/>
          </a:prstGeom>
          <a:noFill/>
          <a:ln w="25400">
            <a:solidFill>
              <a:srgbClr val="05966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206240" y="2002536"/>
            <a:ext cx="960120" cy="7498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06240" y="2002536"/>
            <a:ext cx="960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SEMANAL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212080" y="2002536"/>
            <a:ext cx="3749040" cy="7498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03520" y="205740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funil e mensagens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ativação, drop-offs no funil, teste de mensagens de upsell no WhatsApp.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86300" y="2752344"/>
            <a:ext cx="0" cy="137160"/>
          </a:xfrm>
          <a:prstGeom prst="line">
            <a:avLst/>
          </a:prstGeom>
          <a:noFill/>
          <a:ln w="25400">
            <a:solidFill>
              <a:srgbClr val="05966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206240" y="2889504"/>
            <a:ext cx="960120" cy="7498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06240" y="2889504"/>
            <a:ext cx="960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MENSAL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212080" y="2889504"/>
            <a:ext cx="3749040" cy="7498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03520" y="2944368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LTV e pricing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se o preço está certo, testar planos, analisar cohorts de retenção.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686300" y="3639312"/>
            <a:ext cx="0" cy="137160"/>
          </a:xfrm>
          <a:prstGeom prst="line">
            <a:avLst/>
          </a:prstGeom>
          <a:noFill/>
          <a:ln w="25400">
            <a:solidFill>
              <a:srgbClr val="0596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206240" y="3776472"/>
            <a:ext cx="960120" cy="7498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206240" y="3776472"/>
            <a:ext cx="960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TRIMESTRAL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212080" y="3776472"/>
            <a:ext cx="3749040" cy="7498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03520" y="3831336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canais e fechar parcerias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Mapear oportunidades, ativar novas parcerias, revisar estratégia de crescimento.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7498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❤️  Customer Success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274320" y="85039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PILARES DA ÁREA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206240" y="85039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ROTINAS &amp; FLUXO DE TRABALHO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069080" y="822960"/>
            <a:ext cx="0" cy="4187952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316736"/>
            <a:ext cx="329184" cy="3291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3167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76656" y="1115568"/>
            <a:ext cx="336499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de Zero Fricção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Boas-vindas + "mande uma foto de qualquer cupom agora". Resultado em segundos. Sem tutorial.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2249424"/>
            <a:ext cx="329184" cy="3291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2494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76656" y="2048256"/>
            <a:ext cx="336499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 via WhatsApp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 nativo do produto = canal de suporte. Respostas em até 24h. Tom amigável e acessível.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3182112"/>
            <a:ext cx="329184" cy="3291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31821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76656" y="2980944"/>
            <a:ext cx="336499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 e Satisfação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 trimestral via WhatsApp. Meta: NPS &gt; 50 no primeiro ano de operação.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4114800"/>
            <a:ext cx="329184" cy="3291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4114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76656" y="3913632"/>
            <a:ext cx="336499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Prevenção de Churn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usuários inativos há 7+ dias e enviar reengajamento contextualizado e relevante.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206240" y="1115568"/>
            <a:ext cx="960120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06240" y="1115568"/>
            <a:ext cx="960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DIÁRIO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212080" y="1115568"/>
            <a:ext cx="3749040" cy="7498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0" y="1170432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Atender dúvidas e problemas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Responder tickets no WhatsApp Business, resolver erros de leitura de cupons.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86300" y="1865376"/>
            <a:ext cx="0" cy="13716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206240" y="2002536"/>
            <a:ext cx="960120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06240" y="2002536"/>
            <a:ext cx="960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SEMANAL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212080" y="2002536"/>
            <a:ext cx="3749040" cy="7498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03520" y="205740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usuários em risco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quem não usou em 7+ dias e enviar mensagem personalizada de reengajamento.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86300" y="2752344"/>
            <a:ext cx="0" cy="13716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206240" y="2889504"/>
            <a:ext cx="960120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06240" y="2889504"/>
            <a:ext cx="960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MENSAL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212080" y="2889504"/>
            <a:ext cx="3749040" cy="7498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03520" y="2944368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Coletar feedbacks e depoimentos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Solicitar NPS, reunir casos de sucesso para usar como social proof no marketing.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686300" y="3639312"/>
            <a:ext cx="0" cy="13716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206240" y="3776472"/>
            <a:ext cx="960120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206240" y="3776472"/>
            <a:ext cx="960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TRIMESTRAL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212080" y="3776472"/>
            <a:ext cx="3749040" cy="7498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03520" y="3831336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churn e retenção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 por que usuários saem, ajustar comunicação e iterar no produto.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7498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Financeiro &amp; Contabilidade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274320" y="85039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PILARES DA ÁREA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206240" y="85039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ROTINAS &amp; FLUXO DE TRABALHO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069080" y="822960"/>
            <a:ext cx="0" cy="4187952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316736"/>
            <a:ext cx="329184" cy="32918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3167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76656" y="1115568"/>
            <a:ext cx="336499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Separação PJ/PF e Regime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CNPJ e conta PJ separados desde o início. Simples Nacional (Anexo III para SaaS). Contabilidade online.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2249424"/>
            <a:ext cx="329184" cy="32918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2494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76656" y="2048256"/>
            <a:ext cx="336499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MRR e Receita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Monitorar MRR, Churn de Receita, LTV e runway financeiro mensalmente.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3182112"/>
            <a:ext cx="329184" cy="32918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31821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76656" y="2980944"/>
            <a:ext cx="336499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Tributação de SaaS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 (2–5%), PIS/COFINS e IRPJ sobre receita de assinaturas. Entender cada tributo antes de precificar.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4114800"/>
            <a:ext cx="329184" cy="32918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4114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76656" y="3913632"/>
            <a:ext cx="336499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de Caixa e Projeção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semanal de entradas e saídas. Projeção de 6 meses. Alerta de runway crítico (&lt;3 meses).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206240" y="1115568"/>
            <a:ext cx="960120" cy="7498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06240" y="1115568"/>
            <a:ext cx="960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DIÁRIO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212080" y="1115568"/>
            <a:ext cx="3749040" cy="7498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0" y="1170432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entradas e saídas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de pagamentos recebidos, inadimplências, custos de API (Gemini, WhatsApp Business).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86300" y="1865376"/>
            <a:ext cx="0" cy="137160"/>
          </a:xfrm>
          <a:prstGeom prst="line">
            <a:avLst/>
          </a:prstGeom>
          <a:noFill/>
          <a:ln w="25400">
            <a:solidFill>
              <a:srgbClr val="D9770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206240" y="2002536"/>
            <a:ext cx="960120" cy="7498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06240" y="2002536"/>
            <a:ext cx="960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SEMANAL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212080" y="2002536"/>
            <a:ext cx="3749040" cy="7498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03520" y="205740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Reconciliar extrato bancário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Conferir extrato da conta PJ com registros internos. Sinalizar discrepâncias imediatamente.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86300" y="2752344"/>
            <a:ext cx="0" cy="137160"/>
          </a:xfrm>
          <a:prstGeom prst="line">
            <a:avLst/>
          </a:prstGeom>
          <a:noFill/>
          <a:ln w="25400">
            <a:solidFill>
              <a:srgbClr val="D9770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206240" y="2889504"/>
            <a:ext cx="960120" cy="7498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06240" y="2889504"/>
            <a:ext cx="960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MENSAL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212080" y="2889504"/>
            <a:ext cx="3749040" cy="7498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03520" y="2944368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 e tributos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 MRR, emitir DAS (Simples), fechar DRE simplificada, revisar runway.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686300" y="3639312"/>
            <a:ext cx="0" cy="137160"/>
          </a:xfrm>
          <a:prstGeom prst="line">
            <a:avLst/>
          </a:prstGeom>
          <a:noFill/>
          <a:ln w="25400">
            <a:solidFill>
              <a:srgbClr val="D9770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206240" y="3776472"/>
            <a:ext cx="960120" cy="7498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206240" y="3776472"/>
            <a:ext cx="960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TRIMESTRAL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212080" y="3776472"/>
            <a:ext cx="3749040" cy="7498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03520" y="3831336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 de pricing e projeções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Analisar LTV/CAC, ajustar preços se necessário, projetar os próximos 6 meses.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7498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Jurídico &amp; Compliance (LGPD)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274320" y="85039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PILARES DA ÁREA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206240" y="85039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ROTINAS &amp; FLUXO DE TRABALHO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069080" y="822960"/>
            <a:ext cx="0" cy="4187952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316736"/>
            <a:ext cx="329184" cy="32918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3167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76656" y="1115568"/>
            <a:ext cx="336499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LGPD e Privacidade de Dados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Cupons têm dados pessoais e financeiros. Consentimento explícito, política de retenção e direito ao esquecimento.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2249424"/>
            <a:ext cx="329184" cy="32918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2494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76656" y="2048256"/>
            <a:ext cx="336499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Termos e Privacy Policy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 claros em linguagem simples — obrigatórios antes do primeiro usuário pago.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3182112"/>
            <a:ext cx="329184" cy="32918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31821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76656" y="2980944"/>
            <a:ext cx="336499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Marca e CNPJ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"Economizei" no INPI (classe 42 — software). PJ adequada para receber pagamentos.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4114800"/>
            <a:ext cx="329184" cy="32918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4114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76656" y="3913632"/>
            <a:ext cx="336499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Contratos com Fornecedores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termos de uso das APIs do Google (Gemini) e Meta (WhatsApp Business API).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206240" y="1115568"/>
            <a:ext cx="960120" cy="7498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06240" y="1115568"/>
            <a:ext cx="960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212080" y="1115568"/>
            <a:ext cx="3749040" cy="7498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0" y="1170432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Constituir CNPJ e documentos legais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ME ou MEI, publicar Termos e Privacy Policy, protocolar registro no INPI.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86300" y="1865376"/>
            <a:ext cx="0" cy="13716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206240" y="2002536"/>
            <a:ext cx="960120" cy="7498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06240" y="2002536"/>
            <a:ext cx="960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MENSAL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212080" y="2002536"/>
            <a:ext cx="3749040" cy="7498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03520" y="205740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adequação à LGPD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logs de acesso, confirmar que dados não são compartilhados indevidamente.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86300" y="2752344"/>
            <a:ext cx="0" cy="13716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206240" y="2889504"/>
            <a:ext cx="960120" cy="7498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06240" y="2889504"/>
            <a:ext cx="960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TRIMESTRAL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212080" y="2889504"/>
            <a:ext cx="3749040" cy="7498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03520" y="2944368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contratos de APIs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mudanças nos termos do Gemini e WhatsApp Business API. Ajustar integrações.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686300" y="3639312"/>
            <a:ext cx="0" cy="13716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206240" y="3776472"/>
            <a:ext cx="960120" cy="7498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206240" y="3776472"/>
            <a:ext cx="960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ANUAL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212080" y="3776472"/>
            <a:ext cx="3749040" cy="7498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03520" y="3831336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 jurídica completa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Consultor jurídico para revisar contratos, Termos, adequação LGPD e registros ativos.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7498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Operações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274320" y="85039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PILARES DA ÁREA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206240" y="85039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ROTINAS &amp; FLUXO DE TRABALHO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069080" y="822960"/>
            <a:ext cx="0" cy="4187952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316736"/>
            <a:ext cx="329184" cy="329184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3167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76656" y="1115568"/>
            <a:ext cx="336499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e Infraestrutura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(Railway/GCP), CI/CD automatizado, monitoramento com Sentry e UptimeRobot, backup diário.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2249424"/>
            <a:ext cx="329184" cy="329184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2494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76656" y="2048256"/>
            <a:ext cx="336499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APIs e Custos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Monitorar consumo e custo de Gemini e WhatsApp Business API. Alertas de gasto inesperado.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3182112"/>
            <a:ext cx="329184" cy="329184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31821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76656" y="2980944"/>
            <a:ext cx="336499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Processos e SOPs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 cada processo repetível. Claude Cowork como repositório vivo de SOPs da empresa.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4114800"/>
            <a:ext cx="329184" cy="329184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4114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76656" y="3913632"/>
            <a:ext cx="336499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de Ferramentas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 (gestão), Linear (backlog), Stripe/MP (pagamentos), PostHog (analytics), Claude (IA operacional).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206240" y="1115568"/>
            <a:ext cx="960120" cy="74980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06240" y="1115568"/>
            <a:ext cx="960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DIÁRIO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212080" y="1115568"/>
            <a:ext cx="3749040" cy="7498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0" y="1170432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Checar status das APIs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UptimeRobot: bot online? Gemini respondendo? Taxa de erro &lt; 1%?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86300" y="1865376"/>
            <a:ext cx="0" cy="13716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206240" y="2002536"/>
            <a:ext cx="960120" cy="74980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06240" y="2002536"/>
            <a:ext cx="960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SEMANAL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212080" y="2002536"/>
            <a:ext cx="3749040" cy="7498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03520" y="205740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custos de infra e APIs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real vs. projetado. Identificar spikes de uso não esperados.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86300" y="2752344"/>
            <a:ext cx="0" cy="13716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206240" y="2889504"/>
            <a:ext cx="960120" cy="74980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06240" y="2889504"/>
            <a:ext cx="960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MENSAL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212080" y="2889504"/>
            <a:ext cx="3749040" cy="7498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03520" y="2944368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Atualizar SOPs e documentação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processos que mudaram, documentar novas decisões e aprendizados do período.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686300" y="3639312"/>
            <a:ext cx="0" cy="13716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206240" y="3776472"/>
            <a:ext cx="960120" cy="74980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206240" y="3776472"/>
            <a:ext cx="960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TRIMESTRAL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212080" y="3776472"/>
            <a:ext cx="3749040" cy="7498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03520" y="3831336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Auditoria de segurança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permissões, rotacionar chaves de API, verificar vulnerabilidades e backups.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7498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Memória do Cowork — O Cérebro da Empresa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274320" y="859536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 Claude + Cowork como COO virtual e base de conhecimento viva — memória institucional + SOPs de cada área.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56032" y="1252728"/>
            <a:ext cx="2788920" cy="3611880"/>
          </a:xfrm>
          <a:prstGeom prst="rect">
            <a:avLst/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252728"/>
            <a:ext cx="2788920" cy="1828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499616"/>
            <a:ext cx="2569464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 Camada 1 — Identidade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65760" y="2093976"/>
            <a:ext cx="2569464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Missão, visão e valores do Economizei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Persona: classe B/C, WhatsApp, supermercado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Modelo de negócio e proposta de valor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Decisões estratégicas e o porquê delas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27832" y="1252728"/>
            <a:ext cx="2788920" cy="3611880"/>
          </a:xfrm>
          <a:prstGeom prst="rect">
            <a:avLst/>
          </a:prstGeom>
          <a:solidFill>
            <a:srgbClr val="1E293B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27832" y="1252728"/>
            <a:ext cx="2788920" cy="1828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1499616"/>
            <a:ext cx="2569464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Camada 2 — Processos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337560" y="2093976"/>
            <a:ext cx="2569464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SOP de cada área (rotinas documentadas)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Checklists de tarefas recorrentes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Playbooks: bug crítico, cliente insatisfeito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Templates de comunicação e mensagens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99632" y="1252728"/>
            <a:ext cx="2788920" cy="3611880"/>
          </a:xfrm>
          <a:prstGeom prst="rect">
            <a:avLst/>
          </a:prstGeom>
          <a:solidFill>
            <a:srgbClr val="1E293B"/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99632" y="1252728"/>
            <a:ext cx="2788920" cy="1828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1499616"/>
            <a:ext cx="2569464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Camada 3 — Histórico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309360" y="2093976"/>
            <a:ext cx="2569464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Decisões tomadas e resultados observados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Experimentos e seus resultados (A/B tests)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Retrospectivas mensais e insights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Erros cometidos e como foram resolvidos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56032" y="4709160"/>
            <a:ext cx="8631936" cy="3200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4727448"/>
            <a:ext cx="83759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Dica: inicie cada sessão com "Contexto: [área]. Preciso [tarefa]." — o Claude usará a memória acumulada para respostas muito mais precisas e contextualizadas.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3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A2B1A"/>
          </a:solidFill>
          <a:ln w="12700">
            <a:solidFill>
              <a:srgbClr val="0A2B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7498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Roadmap — O que fazer agora com 1 pessoa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56032" y="868680"/>
            <a:ext cx="2029968" cy="4069080"/>
          </a:xfrm>
          <a:prstGeom prst="rect">
            <a:avLst/>
          </a:prstGeom>
          <a:solidFill>
            <a:srgbClr val="1A3A28"/>
          </a:solidFill>
          <a:ln w="25400">
            <a:solidFill>
              <a:srgbClr val="DC262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868680"/>
            <a:ext cx="2029968" cy="42062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868680"/>
            <a:ext cx="20299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MÊS 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47472" y="1353312"/>
            <a:ext cx="184708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Fundação Legal &amp; Financeira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" y="1828800"/>
            <a:ext cx="1847088" cy="0"/>
          </a:xfrm>
          <a:prstGeom prst="line">
            <a:avLst/>
          </a:prstGeom>
          <a:noFill/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1920240"/>
            <a:ext cx="1847088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Abrir CNPJ / ME ou MEI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Conta PJ separada da PF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Publicar Termos + Privacy Policy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Integrar Stripe ou Mercado Pago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450592" y="868680"/>
            <a:ext cx="2029968" cy="4069080"/>
          </a:xfrm>
          <a:prstGeom prst="rect">
            <a:avLst/>
          </a:prstGeom>
          <a:solidFill>
            <a:srgbClr val="1A3A28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50592" y="868680"/>
            <a:ext cx="2029968" cy="42062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50592" y="868680"/>
            <a:ext cx="20299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MÊS 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542032" y="1353312"/>
            <a:ext cx="184708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Primeiros Usuários &amp; Marca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542032" y="1828800"/>
            <a:ext cx="1847088" cy="0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42032" y="1920240"/>
            <a:ext cx="1847088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Criar perfil no TikTok e Instagram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Publicar os 10 primeiros conteúdos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Meta: 100 usuários freemium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Ativar pesquisa de NPS inicial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45152" y="868680"/>
            <a:ext cx="2029968" cy="4069080"/>
          </a:xfrm>
          <a:prstGeom prst="rect">
            <a:avLst/>
          </a:prstGeom>
          <a:solidFill>
            <a:srgbClr val="1A3A28"/>
          </a:solidFill>
          <a:ln w="25400">
            <a:solidFill>
              <a:srgbClr val="05966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45152" y="868680"/>
            <a:ext cx="2029968" cy="42062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45152" y="868680"/>
            <a:ext cx="20299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MÊS 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36592" y="1353312"/>
            <a:ext cx="184708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Monetização &amp; Growth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36592" y="1828800"/>
            <a:ext cx="1847088" cy="0"/>
          </a:xfrm>
          <a:prstGeom prst="line">
            <a:avLst/>
          </a:prstGeom>
          <a:noFill/>
          <a:ln w="12700">
            <a:solidFill>
              <a:srgbClr val="0596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36592" y="1920240"/>
            <a:ext cx="1847088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Lançar plano Premium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Teste A/B de preço e posicionamento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Meta: 10 pagantes (primeiro MRR)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Primeira análise de LTV/CAC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839712" y="868680"/>
            <a:ext cx="2029968" cy="4069080"/>
          </a:xfrm>
          <a:prstGeom prst="rect">
            <a:avLst/>
          </a:prstGeom>
          <a:solidFill>
            <a:srgbClr val="1A3A28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39712" y="868680"/>
            <a:ext cx="2029968" cy="42062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39712" y="868680"/>
            <a:ext cx="20299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MÊS 4+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931152" y="1353312"/>
            <a:ext cx="184708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 &amp; Escala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931152" y="1828800"/>
            <a:ext cx="1847088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31152" y="1920240"/>
            <a:ext cx="1847088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Iterar produto com base em feedback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Parcerias com influencers de economia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Contratar CS freelancer se NPS &lt; 40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Revisão estratégica trimestral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Economizei — Blueprint Empresarial</dc:title>
  <dc:subject>PptxGenJS Presentation</dc:subject>
  <dc:creator>PptxGenJS</dc:creator>
  <cp:lastModifiedBy>PptxGenJS</cp:lastModifiedBy>
  <cp:revision>1</cp:revision>
  <dcterms:created xsi:type="dcterms:W3CDTF">2026-05-08T07:52:59Z</dcterms:created>
  <dcterms:modified xsi:type="dcterms:W3CDTF">2026-05-08T07:52:59Z</dcterms:modified>
</cp:coreProperties>
</file>